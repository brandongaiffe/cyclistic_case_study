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86aa70aa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86aa70aa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86aa70aa2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86aa70aa2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86aa70aa2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86aa70aa2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86aa70aa2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c86aa70aa2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86aa70aa2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86aa70aa2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Casual Rider Conversion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Annual Subscribers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21125" y="4497300"/>
            <a:ext cx="43305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Brandon Gaiffe / February 16, 2026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Cyclictic Membership Conversion Overview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How do ride patterns differ between Casual Riders and Annual Members?</a:t>
            </a:r>
            <a:endParaRPr sz="1800"/>
          </a:p>
          <a:p>
            <a:pPr indent="-323850" lvl="0" marL="457200" rtl="0" algn="just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Casual riders ride longer</a:t>
            </a:r>
            <a:endParaRPr sz="15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Casual riders show strong trends toward weekend rides</a:t>
            </a:r>
            <a:endParaRPr sz="15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Ridership for both show similar  </a:t>
            </a:r>
            <a:r>
              <a:rPr lang="en" sz="1500"/>
              <a:t>seasonal</a:t>
            </a:r>
            <a:r>
              <a:rPr lang="en" sz="1500"/>
              <a:t> trends</a:t>
            </a:r>
            <a:endParaRPr sz="15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 subset of casual riders show </a:t>
            </a:r>
            <a:r>
              <a:rPr lang="en" sz="1500"/>
              <a:t>similarities</a:t>
            </a:r>
            <a:r>
              <a:rPr lang="en" sz="1500"/>
              <a:t> to annual members</a:t>
            </a:r>
            <a:endParaRPr sz="1500"/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These riders are prime targets for conversion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title="rides_by_mont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6900"/>
            <a:ext cx="5340249" cy="337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6102375" y="1464450"/>
            <a:ext cx="26889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Fewest  riders in winter months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6102275" y="2339850"/>
            <a:ext cx="26889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Casual riders decrease starting in autumn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6102375" y="4043850"/>
            <a:ext cx="26889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Strongest</a:t>
            </a: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similarities during the summer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677450" y="604525"/>
            <a:ext cx="56907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5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Seasonal Trends</a:t>
            </a:r>
            <a:endParaRPr b="1" sz="375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6102375" y="3168450"/>
            <a:ext cx="26889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Members ride steadily through summer and fall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6" title="average_ride_lenght_per_mont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70550"/>
            <a:ext cx="5183924" cy="362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/>
        </p:nvSpPr>
        <p:spPr>
          <a:xfrm>
            <a:off x="5946050" y="1964800"/>
            <a:ext cx="2907900" cy="5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Casual riders take longer trips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5946050" y="2730700"/>
            <a:ext cx="29079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Dramatic difference in the summer months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5946050" y="3574900"/>
            <a:ext cx="2907900" cy="5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Shows preference toward leisure rather than commutes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740000" y="520425"/>
            <a:ext cx="7692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5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Monthly Trends</a:t>
            </a:r>
            <a:endParaRPr b="1" sz="375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>
            <p:ph type="ctrTitle"/>
          </p:nvPr>
        </p:nvSpPr>
        <p:spPr>
          <a:xfrm>
            <a:off x="727950" y="556375"/>
            <a:ext cx="7688100" cy="7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Daily Behaviors</a:t>
            </a:r>
            <a:endParaRPr/>
          </a:p>
        </p:txBody>
      </p:sp>
      <p:pic>
        <p:nvPicPr>
          <p:cNvPr id="119" name="Google Shape;119;p17" title="annual_members_ride_tim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01200"/>
            <a:ext cx="3474627" cy="286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7" title="casual_riders-ride_tim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7025" y="1601200"/>
            <a:ext cx="3474627" cy="286484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 txBox="1"/>
          <p:nvPr/>
        </p:nvSpPr>
        <p:spPr>
          <a:xfrm>
            <a:off x="7101650" y="2392025"/>
            <a:ext cx="1672800" cy="9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Casual riders skew toward weekend rides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7101650" y="1288375"/>
            <a:ext cx="15477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Members ride at commute times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7101650" y="3559275"/>
            <a:ext cx="1547700" cy="11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Significant crossover during evening commute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>
            <p:ph type="ctrTitle"/>
          </p:nvPr>
        </p:nvSpPr>
        <p:spPr>
          <a:xfrm>
            <a:off x="729625" y="556400"/>
            <a:ext cx="7781700" cy="6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</a:t>
            </a:r>
            <a:endParaRPr/>
          </a:p>
        </p:txBody>
      </p:sp>
      <p:sp>
        <p:nvSpPr>
          <p:cNvPr id="129" name="Google Shape;129;p18"/>
          <p:cNvSpPr txBox="1"/>
          <p:nvPr/>
        </p:nvSpPr>
        <p:spPr>
          <a:xfrm>
            <a:off x="833800" y="1651975"/>
            <a:ext cx="7379100" cy="27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</a:pPr>
            <a:r>
              <a:rPr lang="en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Run </a:t>
            </a:r>
            <a:r>
              <a:rPr lang="en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promotional campaign during fall and winter months with discounted pricing incentivising conversion during slower months </a:t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</a:pPr>
            <a:r>
              <a:rPr lang="en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Offer an option of lower priced seasonal memberships to capture casual riders who ride  longer in the summertime</a:t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</a:pPr>
            <a:r>
              <a:rPr lang="en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Dynamic pricing  structure for casual riders while members pay a steady rate to convert casual riders during commute times to members</a:t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